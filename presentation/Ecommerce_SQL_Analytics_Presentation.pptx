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005840"/>
            <a:ext cx="91440" cy="4297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1430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Sales &amp; Customer</a:t>
            </a:r>
            <a:br/>
            <a:r>
              <a:t>Intelligence Using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0156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DD7E1"/>
                </a:solidFill>
                <a:latin typeface="Aptos"/>
              </a:rPr>
              <a:t>Revenue • Customer Behaviour • Products • Regions •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977639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MySQL 8  |  Python  |  Google Colab  | 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0749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Portfolio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4406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Sombir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Business Problem &amp; Analytical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Turning relational transaction data into actionable commercial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920240" cy="320040"/>
          </a:xfrm>
          <a:prstGeom prst="roundRect">
            <a:avLst/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7339"/>
            <a:ext cx="1700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D5852"/>
                </a:solidFill>
                <a:latin typeface="Aptos"/>
              </a:rPr>
              <a:t>BUSINESS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166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How much measurable revenue is the business generating?</a:t>
            </a:r>
          </a:p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Which categories, products and regions drive commercial performance?</a:t>
            </a:r>
          </a:p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Which customers contribute the greatest historical value?</a:t>
            </a:r>
          </a:p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How frequently do customers purchase and return?</a:t>
            </a:r>
          </a:p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Where is return-related financial exposure concentrated?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1920240" cy="320040"/>
          </a:xfrm>
          <a:prstGeom prst="roundRect">
            <a:avLst/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77339"/>
            <a:ext cx="1700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0D5852"/>
                </a:solidFill>
                <a:latin typeface="Aptos"/>
              </a:rPr>
              <a:t>ANALYTICAL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Relational analysis across Customers, Orders, OrderDetails, Products and Regions</a:t>
            </a:r>
          </a:p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25 validated SQL business analyses</a:t>
            </a:r>
          </a:p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CTEs, joins, conditional aggregation and window functions</a:t>
            </a:r>
          </a:p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Independent Python reconciliation of presentation KPIs</a:t>
            </a:r>
          </a:p>
          <a:p>
            <a:pPr>
              <a:spcAft>
                <a:spcPts val="1000"/>
              </a:spcAft>
              <a:defRPr sz="1400">
                <a:solidFill>
                  <a:srgbClr val="202C39"/>
                </a:solidFill>
                <a:latin typeface="Aptos"/>
              </a:defRPr>
            </a:pPr>
            <a:r>
              <a:t>• Executive visualization and business recommendation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Database Architecture &amp; Data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Revenue metrics require available line-item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73736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47088"/>
            <a:ext cx="15179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33A"/>
                </a:solidFill>
                <a:latin typeface="Aptos"/>
              </a:rPr>
              <a:t>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185416"/>
            <a:ext cx="1517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173736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47088"/>
            <a:ext cx="15179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33A"/>
                </a:solidFill>
                <a:latin typeface="Aptos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85416"/>
            <a:ext cx="1517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1224" y="1645920"/>
            <a:ext cx="173736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1847088"/>
            <a:ext cx="15179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33A"/>
                </a:solidFill>
                <a:latin typeface="Aptos"/>
              </a:rP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2185416"/>
            <a:ext cx="1517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1,000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4656" y="1645920"/>
            <a:ext cx="173736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3" y="1847088"/>
            <a:ext cx="15179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33A"/>
                </a:solidFill>
                <a:latin typeface="Aptos"/>
              </a:rPr>
              <a:t>OrderDetails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2185416"/>
            <a:ext cx="1517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2,000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48088" y="1645920"/>
            <a:ext cx="173736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1847088"/>
            <a:ext cx="15179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33A"/>
                </a:solidFill>
                <a:latin typeface="Aptos"/>
              </a:rPr>
              <a:t>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2185416"/>
            <a:ext cx="1517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194767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194767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94767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194767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766E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246120"/>
            <a:ext cx="246888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246120"/>
            <a:ext cx="64008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341071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TOTAL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373075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1,000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246120"/>
            <a:ext cx="246888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246120"/>
            <a:ext cx="64008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341071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ORDERS WITH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373075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853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3246120"/>
            <a:ext cx="246888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3246120"/>
            <a:ext cx="64008" cy="1097280"/>
          </a:xfrm>
          <a:prstGeom prst="rect">
            <a:avLst/>
          </a:prstGeom>
          <a:solidFill>
            <a:srgbClr val="B0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341071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MISSING DETAILS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373075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147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3246120"/>
            <a:ext cx="246888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32520" y="3246120"/>
            <a:ext cx="64008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33688" y="341071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DETAIL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3075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85.30%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709160"/>
            <a:ext cx="1042416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4855464"/>
            <a:ext cx="10021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0842D"/>
                </a:solidFill>
                <a:latin typeface="Aptos"/>
              </a:rPr>
              <a:t>IMPORTANT METHODOLOGICAL 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" y="5184648"/>
            <a:ext cx="100218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Order-level metrics use all 1,000 orders. Revenue, AOV, product and unit-based metrics use the 853 orders with available OrderDetails. This distinction prevents incomplete transactions from being treated as zero-revenue orders.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Executive Performance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Core validated commercial and customer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GROSS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$2.76M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146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64008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673351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NET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9933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$2.05M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25146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64008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673351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GROSS AOV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9933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$3,233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508760"/>
            <a:ext cx="25146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508760"/>
            <a:ext cx="64008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673351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TOTAL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9933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1,000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71800"/>
            <a:ext cx="25146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971800"/>
            <a:ext cx="64008" cy="1143000"/>
          </a:xfrm>
          <a:prstGeom prst="rect">
            <a:avLst/>
          </a:prstGeom>
          <a:solidFill>
            <a:srgbClr val="B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136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RETURN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564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24.90%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2971800"/>
            <a:ext cx="25146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2971800"/>
            <a:ext cx="64008" cy="1143000"/>
          </a:xfrm>
          <a:prstGeom prst="rect">
            <a:avLst/>
          </a:prstGeom>
          <a:solidFill>
            <a:srgbClr val="B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7" y="3136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RETURNED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7" y="34564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$708.3K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971800"/>
            <a:ext cx="25146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971800"/>
            <a:ext cx="64008" cy="1143000"/>
          </a:xfrm>
          <a:prstGeom prst="rect">
            <a:avLst/>
          </a:prstGeom>
          <a:solidFill>
            <a:srgbClr val="2D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7" y="3136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REPEAT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34564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95.98%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2971800"/>
            <a:ext cx="25146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2971800"/>
            <a:ext cx="64008" cy="1143000"/>
          </a:xfrm>
          <a:prstGeom prst="rect">
            <a:avLst/>
          </a:prstGeom>
          <a:solidFill>
            <a:srgbClr val="B0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3136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DETAIL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34564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85.30%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709160"/>
            <a:ext cx="10972800" cy="96012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855464"/>
            <a:ext cx="10570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74343"/>
                </a:solidFill>
                <a:latin typeface="Aptos"/>
              </a:rPr>
              <a:t>EXECUTIVE READOUT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5184648"/>
            <a:ext cx="10570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Measured gross revenue reaches $2.76M, but $708.3K (25.69%) is associated with returned orders. Returns therefore represent one of the clearest areas for commercial investigation.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Revenue Performance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Monthly measured gross revenue across the available transaction period</a:t>
            </a:r>
          </a:p>
        </p:txBody>
      </p:sp>
      <p:pic>
        <p:nvPicPr>
          <p:cNvPr id="5" name="Picture 4" descr="01_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745236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600200"/>
            <a:ext cx="315468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7928" y="1746504"/>
            <a:ext cx="2752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PEAK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7928" y="2075688"/>
            <a:ext cx="2752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September 2024 generated the highest observed monthly gross revenue: $151.9K.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3017520"/>
            <a:ext cx="3154680" cy="141732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3163824"/>
            <a:ext cx="2752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2024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3493008"/>
            <a:ext cx="27523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2024 generated $1.412M measured gross revenue and is the only full calendar year in the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4617720"/>
            <a:ext cx="315468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4764024"/>
            <a:ext cx="2752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0842D"/>
                </a:solidFill>
                <a:latin typeface="Aptos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5093208"/>
            <a:ext cx="2752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2023 begins in April and 2025 ends in April, so annual totals should not be treated as directly comparable full-year growth.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Category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Revenue concentration and category contribution</a:t>
            </a:r>
          </a:p>
        </p:txBody>
      </p:sp>
      <p:pic>
        <p:nvPicPr>
          <p:cNvPr id="5" name="Picture 4" descr="02_revenue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81228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600200"/>
            <a:ext cx="37033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7848" y="1746504"/>
            <a:ext cx="33009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LEADING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2075688"/>
            <a:ext cx="33009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Electronics generated $649.4K, representing 23.55% of measured gross revenue.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926080"/>
            <a:ext cx="37033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3072384"/>
            <a:ext cx="33009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SECOND-LARGEST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3401568"/>
            <a:ext cx="33009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Home generated $557.4K, representing 20.21% of measured gross revenue.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251960"/>
            <a:ext cx="37033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4398264"/>
            <a:ext cx="33009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4727448"/>
            <a:ext cx="33009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Electronics + Home contributed approximately 43.76% of measured gross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5559552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Note: Electronics contains more products than several other categories, so revenue leadership should not automatically be interpreted as superior per-product productivity.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Customer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Historical customer value, retention and segmentation</a:t>
            </a:r>
          </a:p>
        </p:txBody>
      </p:sp>
      <p:pic>
        <p:nvPicPr>
          <p:cNvPr id="5" name="Picture 4" descr="05_top_10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7208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554480"/>
            <a:ext cx="178308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554480"/>
            <a:ext cx="64008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719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ACTIVE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03911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199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554480"/>
            <a:ext cx="178308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46920" y="1554480"/>
            <a:ext cx="64008" cy="1051560"/>
          </a:xfrm>
          <a:prstGeom prst="rect">
            <a:avLst/>
          </a:prstGeom>
          <a:solidFill>
            <a:srgbClr val="2D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48088" y="1719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REPEAT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8088" y="203911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191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926080"/>
            <a:ext cx="379476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3072384"/>
            <a:ext cx="3392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TOP HISTORICAL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401568"/>
            <a:ext cx="33924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Melanie Davis generated $46,959.01 measured gross revenue across 6 revenue-bearing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343400"/>
            <a:ext cx="3794760" cy="141732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4489704"/>
            <a:ext cx="3392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0842D"/>
                </a:solidFill>
                <a:latin typeface="Aptos"/>
              </a:rPr>
              <a:t>RETENTION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4818888"/>
            <a:ext cx="339242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95.98% of active customers placed more than one order. Because the dataset is synthetic, this unusually high repeat rate should be interpreted cautiously.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Product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Top products ranked by measured gross revenue</a:t>
            </a:r>
          </a:p>
        </p:txBody>
      </p:sp>
      <p:pic>
        <p:nvPicPr>
          <p:cNvPr id="5" name="Picture 4" descr="04_top_10_product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736092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600200"/>
            <a:ext cx="320040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6488" y="1746504"/>
            <a:ext cx="27980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TOP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6488" y="2075688"/>
            <a:ext cx="27980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Smartphone M (#64) generated $93,856 in measured gross revenue.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971800"/>
            <a:ext cx="32004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3118104"/>
            <a:ext cx="27980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VOLUME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3447288"/>
            <a:ext cx="27980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Smartphone M (#64) also sold 100 units, making it the highest-volume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434840"/>
            <a:ext cx="32004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4581144"/>
            <a:ext cx="27980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0842D"/>
                </a:solidFill>
                <a:latin typeface="Aptos"/>
              </a:rPr>
              <a:t>DATA MODEL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4910327"/>
            <a:ext cx="27980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Product names are not unique in the dataset. ProductID is therefore retained when ranking products.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Regional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Measured revenue contribution across geographic markets</a:t>
            </a:r>
          </a:p>
        </p:txBody>
      </p:sp>
      <p:pic>
        <p:nvPicPr>
          <p:cNvPr id="5" name="Picture 4" descr="03_revenue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736092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600200"/>
            <a:ext cx="32004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6488" y="1746504"/>
            <a:ext cx="27980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REVENUE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6488" y="2075688"/>
            <a:ext cx="27980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Asia East / Japan generated the highest measured regional revenue at $422.3K.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063240"/>
            <a:ext cx="32004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3209544"/>
            <a:ext cx="27980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HIGHEST AOV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3538728"/>
            <a:ext cx="27980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Africa North / Egypt recorded the highest regional gross AOV at $3,654.24.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526280"/>
            <a:ext cx="32004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4672584"/>
            <a:ext cx="27980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PURCHASE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5001768"/>
            <a:ext cx="27980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Europe Central / Germany recorded the highest weighted average purchased unit price at $491.08.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Returns &amp; Commercial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Return frequency and financial exposure reveal different risk signals</a:t>
            </a:r>
          </a:p>
        </p:txBody>
      </p:sp>
      <p:pic>
        <p:nvPicPr>
          <p:cNvPr id="5" name="Picture 4" descr="15_return_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0372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554480"/>
            <a:ext cx="178308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554480"/>
            <a:ext cx="64008" cy="1051560"/>
          </a:xfrm>
          <a:prstGeom prst="rect">
            <a:avLst/>
          </a:prstGeom>
          <a:solidFill>
            <a:srgbClr val="B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1719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ORDER RETURN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03911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24.90%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554480"/>
            <a:ext cx="178308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38360" y="1554480"/>
            <a:ext cx="64008" cy="1051560"/>
          </a:xfrm>
          <a:prstGeom prst="rect">
            <a:avLst/>
          </a:prstGeom>
          <a:solidFill>
            <a:srgbClr val="B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39528" y="1719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978"/>
                </a:solidFill>
                <a:latin typeface="Aptos"/>
              </a:rPr>
              <a:t>RETURNED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9528" y="203911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$708.3K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880360"/>
            <a:ext cx="3794760" cy="96012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3026664"/>
            <a:ext cx="3392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74343"/>
                </a:solidFill>
                <a:latin typeface="Aptos"/>
              </a:rPr>
              <a:t>RATE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355848"/>
            <a:ext cx="3392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Footwear has the highest quantity return rate at 28.21%.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023360"/>
            <a:ext cx="3794760" cy="96012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4169664"/>
            <a:ext cx="3392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74343"/>
                </a:solidFill>
                <a:latin typeface="Aptos"/>
              </a:rPr>
              <a:t>FINANCIAL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4498848"/>
            <a:ext cx="3392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Electronics has the greatest returned-revenue exposure at $163.8K.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5166360"/>
            <a:ext cx="3794760" cy="960120"/>
          </a:xfrm>
          <a:prstGeom prst="round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5312664"/>
            <a:ext cx="3392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74343"/>
                </a:solidFill>
                <a:latin typeface="Aptos"/>
              </a:rPr>
              <a:t>REGIONAL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5641848"/>
            <a:ext cx="3392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Africa South / South Africa has the highest regional order return rate at 31.37%.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Aptos"/>
              </a:rPr>
              <a:t>Key Insights &amp; Business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65836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978"/>
                </a:solidFill>
                <a:latin typeface="Aptos"/>
              </a:rPr>
              <a:t>Translating analytical findings into practical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0876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A"/>
                </a:solidFill>
                <a:latin typeface="Aptos"/>
              </a:rPr>
              <a:t>Reduce return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490472"/>
            <a:ext cx="6995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Investigate Footwear return drivers and high-value Electronics returns separately because frequency and financial exposure represent different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4144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414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A"/>
                </a:solidFill>
                <a:latin typeface="Aptos"/>
              </a:rPr>
              <a:t>Protect revenue leaders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423160"/>
            <a:ext cx="6995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Prioritize availability and commercial monitoring for leading categories and high-performing products.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7413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74136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A"/>
                </a:solidFill>
                <a:latin typeface="Aptos"/>
              </a:rPr>
              <a:t>Use regional targeting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355848"/>
            <a:ext cx="6995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Study the behaviours behind Asia East's revenue leadership, Africa North's high AOV and Africa South's elevated returns.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06824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0682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A"/>
                </a:solidFill>
                <a:latin typeface="Aptos"/>
              </a:rPr>
              <a:t>Improve customer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88536"/>
            <a:ext cx="6995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Replace the assignment's fixed spend thresholds with percentile or RFM-based segmentation for more actionable groups.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395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3951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A"/>
                </a:solidFill>
                <a:latin typeface="Aptos"/>
              </a:rPr>
              <a:t>Improve data 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21224"/>
            <a:ext cx="6995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02C39"/>
                </a:solidFill>
                <a:latin typeface="Aptos"/>
              </a:rPr>
              <a:t>Resolve the 147 orders without OrderDetails before using monetary metrics for complete transaction reporting.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A6978"/>
                </a:solidFill>
                <a:latin typeface="Aptos"/>
              </a:rPr>
              <a:t>E-Commerce Sales &amp; Customer Intelligence Using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6858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From relational data</a:t>
            </a:r>
            <a:br/>
            <a:r>
              <a:t>to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6217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DD7E1"/>
                </a:solidFill>
                <a:latin typeface="Aptos"/>
              </a:rPr>
              <a:t>The project combined SQL business analysis, independent Python validation and executive visualization to identify revenue drivers, customer behaviour, regional performance and return-related commercial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109728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TECHNICAL SKILLS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002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MySQL 8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Relational joins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CTEs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Window functions / LAG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Conditional aggregation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Customer segmentation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Temporal analysis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Data-quality auditing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Python / Pandas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Executive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914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766E"/>
                </a:solidFill>
                <a:latin typeface="Apto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96519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SQL analyses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800600"/>
            <a:ext cx="1325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766E"/>
                </a:solidFill>
                <a:latin typeface="Apto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49651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core KPI reconciliation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DD7E1"/>
                </a:solidFill>
                <a:latin typeface="Aptos"/>
              </a:rPr>
              <a:t>Sombir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